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60" r:id="rId6"/>
    <p:sldId id="258" r:id="rId7"/>
    <p:sldId id="261" r:id="rId8"/>
    <p:sldId id="263" r:id="rId9"/>
    <p:sldId id="267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29CD3-0DCD-4B8E-BCE9-C783B2FF4E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EC676-ADA7-4EAC-8E93-A2B057B9FB8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72" y="279440"/>
            <a:ext cx="4349378" cy="4349378"/>
          </a:xfrm>
          <a:prstGeom prst="rect">
            <a:avLst/>
          </a:prstGeom>
        </p:spPr>
      </p:pic>
      <p:sp>
        <p:nvSpPr>
          <p:cNvPr id="3" name="Google Shape;96;p7"/>
          <p:cNvSpPr txBox="1"/>
          <p:nvPr/>
        </p:nvSpPr>
        <p:spPr>
          <a:xfrm>
            <a:off x="3257250" y="4057650"/>
            <a:ext cx="6007028" cy="1539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latin typeface="Inter SemiBold"/>
                <a:ea typeface="Inter SemiBold"/>
                <a:sym typeface="Inter SemiBold"/>
              </a:rPr>
              <a:t>LIFE TUBE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048000" y="5594302"/>
            <a:ext cx="6096000" cy="442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Inter"/>
                <a:ea typeface="Inter"/>
                <a:sym typeface="Inter"/>
              </a:rPr>
              <a:t>YOUR SAFTY IS OUR RESPONSIBILITY</a:t>
            </a:r>
            <a:endParaRPr lang="en-US" dirty="0"/>
          </a:p>
        </p:txBody>
      </p:sp>
      <p:sp useBgFill="1">
        <p:nvSpPr>
          <p:cNvPr id="7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947432" y="1882024"/>
            <a:ext cx="3203509" cy="3426237"/>
          </a:xfrm>
          <a:prstGeom prst="rect">
            <a:avLst/>
          </a:prstGeom>
        </p:spPr>
      </p:pic>
      <p:sp>
        <p:nvSpPr>
          <p:cNvPr id="10" name="Subtitle 3"/>
          <p:cNvSpPr txBox="1"/>
          <p:nvPr/>
        </p:nvSpPr>
        <p:spPr>
          <a:xfrm>
            <a:off x="3352800" y="515127"/>
            <a:ext cx="8534400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PAGE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7"/>
          <p:cNvSpPr txBox="1"/>
          <p:nvPr/>
        </p:nvSpPr>
        <p:spPr>
          <a:xfrm>
            <a:off x="304800" y="239627"/>
            <a:ext cx="10363200" cy="20764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205" y="1970173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Software/Hardware-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oogle Shape;93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874006" y="0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0255" y="4159885"/>
            <a:ext cx="6864985" cy="13893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en-US" sz="2800" b="1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A One-Stop Personalized Career and Education Advisor</a:t>
            </a:r>
            <a:endParaRPr lang="en-US" sz="2800" b="1" i="0" dirty="0">
              <a:solidFill>
                <a:srgbClr val="3C4245"/>
              </a:solidFill>
              <a:effectLst/>
              <a:latin typeface="Noto Sans" panose="020B0502040504020204" pitchFamily="34" charset="0"/>
            </a:endParaRPr>
          </a:p>
        </p:txBody>
      </p:sp>
      <p:pic>
        <p:nvPicPr>
          <p:cNvPr id="5" name="Picture 4" descr="C:/Users/SAMA/Pictures/Camera Roll/img3.jpgimg3"/>
          <p:cNvPicPr>
            <a:picLocks noChangeAspect="1"/>
          </p:cNvPicPr>
          <p:nvPr/>
        </p:nvPicPr>
        <p:blipFill>
          <a:blip r:embed="rId1"/>
          <a:srcRect l="19576" r="19576"/>
          <a:stretch>
            <a:fillRect/>
          </a:stretch>
        </p:blipFill>
        <p:spPr>
          <a:xfrm>
            <a:off x="7493000" y="1569085"/>
            <a:ext cx="4305935" cy="3980180"/>
          </a:xfrm>
          <a:prstGeom prst="rect">
            <a:avLst/>
          </a:prstGeom>
        </p:spPr>
      </p:pic>
      <p:pic>
        <p:nvPicPr>
          <p:cNvPr id="6" name="Google Shape;93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874006" y="0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Oval 6" descr="Your startup LOGO"/>
          <p:cNvSpPr/>
          <p:nvPr/>
        </p:nvSpPr>
        <p:spPr>
          <a:xfrm>
            <a:off x="141605" y="93345"/>
            <a:ext cx="1956435" cy="9848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Smart Spark 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769620" y="1465580"/>
            <a:ext cx="6865620" cy="2048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600" b="1" dirty="0">
                <a:solidFill>
                  <a:srgbClr val="3C4245"/>
                </a:solidFill>
                <a:latin typeface="Noto Sans" panose="020B0502040504020204" pitchFamily="34" charset="0"/>
              </a:rPr>
              <a:t>Digital Guidance Platform for Student Career Awareness &amp; Enrollment in Government Colleges</a:t>
            </a:r>
            <a:endParaRPr lang="en-US" altLang="en-US" sz="3600" b="1" dirty="0">
              <a:solidFill>
                <a:srgbClr val="3C4245"/>
              </a:solidFill>
              <a:latin typeface="Noto Sans" panose="020B0502040504020204" pitchFamily="34" charset="0"/>
            </a:endParaRP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74006" y="0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val 2" descr="Your startup LOGO"/>
          <p:cNvSpPr/>
          <p:nvPr/>
        </p:nvSpPr>
        <p:spPr>
          <a:xfrm>
            <a:off x="141605" y="107315"/>
            <a:ext cx="204089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Smart spark</a:t>
            </a:r>
            <a:endParaRPr lang="en-US" altLang="en-IN" dirty="0"/>
          </a:p>
        </p:txBody>
      </p:sp>
      <p:pic>
        <p:nvPicPr>
          <p:cNvPr id="4" name="Picture 3" descr="C:/Users/SAMA/Pictures/Camera Roll/img1.jpgimg1"/>
          <p:cNvPicPr>
            <a:picLocks noChangeAspect="1"/>
          </p:cNvPicPr>
          <p:nvPr/>
        </p:nvPicPr>
        <p:blipFill>
          <a:blip r:embed="rId2"/>
          <a:srcRect l="8007" r="8007"/>
          <a:stretch>
            <a:fillRect/>
          </a:stretch>
        </p:blipFill>
        <p:spPr>
          <a:xfrm>
            <a:off x="6572250" y="1782445"/>
            <a:ext cx="5057775" cy="4001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1205" y="1936750"/>
            <a:ext cx="6048375" cy="4665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 b="1" dirty="0"/>
              <a:t>Students &amp; parents unaware of:</a:t>
            </a:r>
            <a:endParaRPr lang="en-US" altLang="en-US" sz="2400" b="1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Importance of graduation</a:t>
            </a: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Career opportunities after different degrees</a:t>
            </a: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How to choose subjects based on interests &amp; prospects</a:t>
            </a: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 b="1" dirty="0"/>
              <a:t>Results in:</a:t>
            </a:r>
            <a:endParaRPr lang="en-US" altLang="en-US" sz="2400" b="1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Poor academic decisions</a:t>
            </a: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High dropout rates</a:t>
            </a: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Migration to private colleges</a:t>
            </a:r>
            <a:endParaRPr lang="en-US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62305" y="1363980"/>
            <a:ext cx="7632700" cy="697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IN" sz="3600" b="1" dirty="0"/>
              <a:t>PROBLEM STATEMENT:</a:t>
            </a:r>
            <a:endParaRPr lang="en-US" altLang="en-IN" sz="3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74006" y="-13447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C:/Users/SAMA/Pictures/Camera Roll/img4.pngimg4"/>
          <p:cNvPicPr>
            <a:picLocks noChangeAspect="1"/>
          </p:cNvPicPr>
          <p:nvPr/>
        </p:nvPicPr>
        <p:blipFill>
          <a:blip r:embed="rId2"/>
          <a:srcRect l="151" r="534"/>
          <a:stretch>
            <a:fillRect/>
          </a:stretch>
        </p:blipFill>
        <p:spPr>
          <a:xfrm>
            <a:off x="5902325" y="1135380"/>
            <a:ext cx="6106795" cy="5408295"/>
          </a:xfrm>
          <a:prstGeom prst="rect">
            <a:avLst/>
          </a:prstGeom>
        </p:spPr>
      </p:pic>
      <p:sp>
        <p:nvSpPr>
          <p:cNvPr id="5" name="Oval 4" descr="Your startup LOGO"/>
          <p:cNvSpPr/>
          <p:nvPr/>
        </p:nvSpPr>
        <p:spPr>
          <a:xfrm>
            <a:off x="141605" y="107315"/>
            <a:ext cx="189928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Smart spark</a:t>
            </a:r>
            <a:endParaRPr lang="en-US" alt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29920" y="2271395"/>
            <a:ext cx="5135880" cy="3361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Confusion in subject selection (Arts, Science, Commerce)</a:t>
            </a:r>
            <a:endParaRPr lang="en-US" altLang="en-US" sz="24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Limited knowledge of nearby government college options</a:t>
            </a:r>
            <a:endParaRPr lang="en-US" altLang="en-US" sz="24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Uncertainty about jobs/higher studies after graduation</a:t>
            </a:r>
            <a:endParaRPr lang="en-US" altLang="en-US" sz="24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Short-term courses seem more attractive than degrees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29285" y="1311910"/>
            <a:ext cx="7272655" cy="694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4000" b="1" dirty="0"/>
              <a:t>Student Challenges :</a:t>
            </a:r>
            <a:endParaRPr lang="en-US" altLang="en-US" sz="4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74006" y="-13447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val 2" descr="Your startup LOGO"/>
          <p:cNvSpPr/>
          <p:nvPr/>
        </p:nvSpPr>
        <p:spPr>
          <a:xfrm>
            <a:off x="141605" y="107315"/>
            <a:ext cx="200406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Smart spark</a:t>
            </a:r>
            <a:endParaRPr lang="en-US" alt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10260" y="986155"/>
            <a:ext cx="9636760" cy="5492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70000"/>
              </a:lnSpc>
            </a:pPr>
            <a:r>
              <a:rPr lang="en-US" altLang="en-US" sz="3200" b="1" dirty="0"/>
              <a:t>Title: Proposed Solution – Digital Guidance Platform</a:t>
            </a:r>
            <a:endParaRPr lang="en-US" altLang="en-US" sz="3200" b="1" dirty="0"/>
          </a:p>
          <a:p>
            <a:pPr>
              <a:lnSpc>
                <a:spcPct val="70000"/>
              </a:lnSpc>
            </a:pPr>
            <a:endParaRPr lang="en-US" altLang="en-US" sz="2000" dirty="0"/>
          </a:p>
          <a:p>
            <a:pPr>
              <a:lnSpc>
                <a:spcPct val="70000"/>
              </a:lnSpc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Develop a mobile + web-based platform as a one-stop career advisor</a:t>
            </a: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Helps students choose the right subject stream after Class 10/12</a:t>
            </a: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Provides course-to-career pathways with clear future opportunities</a:t>
            </a: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Offers a directory of nearby government colleges with program details</a:t>
            </a: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Delivers personalized guidance using AI-driven recommendations</a:t>
            </a:r>
            <a:endParaRPr lang="en-US" altLang="en-US" sz="2000" dirty="0"/>
          </a:p>
          <a:p>
            <a:pPr>
              <a:lnSpc>
                <a:spcPct val="70000"/>
              </a:lnSpc>
            </a:pPr>
            <a:endParaRPr lang="en-US" altLang="en-US" sz="2000" dirty="0"/>
          </a:p>
          <a:p>
            <a:pPr>
              <a:lnSpc>
                <a:spcPct val="70000"/>
              </a:lnSpc>
            </a:pPr>
            <a:r>
              <a:rPr lang="en-US" altLang="en-US" sz="2400" b="1" dirty="0"/>
              <a:t>Visual Idea:</a:t>
            </a:r>
            <a:endParaRPr lang="en-US" altLang="en-US" sz="2400" b="1" dirty="0"/>
          </a:p>
          <a:p>
            <a:pPr>
              <a:lnSpc>
                <a:spcPct val="70000"/>
              </a:lnSpc>
            </a:pPr>
            <a:endParaRPr lang="en-US" altLang="en-US" sz="2000" dirty="0"/>
          </a:p>
          <a:p>
            <a:pPr>
              <a:lnSpc>
                <a:spcPct val="70000"/>
              </a:lnSpc>
            </a:pPr>
            <a:r>
              <a:rPr lang="en-US" altLang="en-US" sz="2000" dirty="0"/>
              <a:t>A simple graphic showing a student in the center, with arrows pointing to:</a:t>
            </a:r>
            <a:endParaRPr lang="en-US" altLang="en-US" sz="2000" dirty="0"/>
          </a:p>
          <a:p>
            <a:pPr>
              <a:lnSpc>
                <a:spcPct val="70000"/>
              </a:lnSpc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§"/>
            </a:pPr>
            <a:r>
              <a:rPr lang="en-US" altLang="en-US" sz="2000" dirty="0"/>
              <a:t>Subject Selection</a:t>
            </a: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§"/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§"/>
            </a:pPr>
            <a:r>
              <a:rPr lang="en-US" altLang="en-US" sz="2000" dirty="0"/>
              <a:t>Career Mapping</a:t>
            </a: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§"/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§"/>
            </a:pPr>
            <a:r>
              <a:rPr lang="en-US" altLang="en-US" sz="2000" dirty="0"/>
              <a:t>Nearby Colleges</a:t>
            </a: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§"/>
            </a:pPr>
            <a:endParaRPr lang="en-US" altLang="en-US" sz="2000" dirty="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§"/>
            </a:pPr>
            <a:r>
              <a:rPr lang="en-US" altLang="en-US" sz="2000" dirty="0"/>
              <a:t>Personalized Advice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Oval 2" descr="Your startup LOGO"/>
          <p:cNvSpPr/>
          <p:nvPr/>
        </p:nvSpPr>
        <p:spPr>
          <a:xfrm>
            <a:off x="141605" y="107315"/>
            <a:ext cx="200406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IN" dirty="0"/>
              <a:t>Smart spark</a:t>
            </a:r>
            <a:endParaRPr lang="en-US" altLang="en-IN" dirty="0"/>
          </a:p>
        </p:txBody>
      </p:sp>
      <p:pic>
        <p:nvPicPr>
          <p:cNvPr id="2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74006" y="-13447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4268470" y="650240"/>
            <a:ext cx="5605145" cy="863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4400" b="1" dirty="0">
                <a:sym typeface="+mn-ea"/>
              </a:rPr>
              <a:t>Key Features</a:t>
            </a:r>
            <a:endParaRPr lang="en-US" altLang="en-US" sz="4400" b="1" dirty="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72515" y="1765300"/>
            <a:ext cx="9911715" cy="4409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Aptitude &amp; Interest Quiz:</a:t>
            </a:r>
            <a:r>
              <a:rPr lang="en-US" altLang="en-US" sz="2400" dirty="0">
                <a:sym typeface="+mn-ea"/>
              </a:rPr>
              <a:t> Suggests suitable streams &amp; courses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Course-to-Career Path Mapping:</a:t>
            </a:r>
            <a:r>
              <a:rPr lang="en-US" altLang="en-US" sz="2400" dirty="0">
                <a:sym typeface="+mn-ea"/>
              </a:rPr>
              <a:t> Visual charts of career outcomes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Nearby College Directory: </a:t>
            </a:r>
            <a:r>
              <a:rPr lang="en-US" altLang="en-US" sz="2400" dirty="0">
                <a:sym typeface="+mn-ea"/>
              </a:rPr>
              <a:t>Location-based government college info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Timeline Tracker:</a:t>
            </a:r>
            <a:r>
              <a:rPr lang="en-US" altLang="en-US" sz="2400" dirty="0">
                <a:sym typeface="+mn-ea"/>
              </a:rPr>
              <a:t> Alerts for admissions, scholarships, tests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457200" indent="-4572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Customization &amp; Personalization:</a:t>
            </a:r>
            <a:r>
              <a:rPr lang="en-US" altLang="en-US" sz="2400" dirty="0">
                <a:sym typeface="+mn-ea"/>
              </a:rPr>
              <a:t> AI-driven recommendations ,User </a:t>
            </a:r>
            <a:endParaRPr lang="en-US" altLang="en-US" sz="2400" dirty="0">
              <a:sym typeface="+mn-ea"/>
            </a:endParaRPr>
          </a:p>
          <a:p>
            <a:pPr marL="457200" indent="-4572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ym typeface="+mn-ea"/>
              </a:rPr>
              <a:t>       profiles track student details                                      </a:t>
            </a:r>
            <a:endParaRPr lang="en-US" altLang="en-US" sz="2400" dirty="0">
              <a:sym typeface="+mn-ea"/>
            </a:endParaRPr>
          </a:p>
          <a:p>
            <a:pPr marL="457200" indent="-4572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400" b="1" dirty="0">
              <a:sym typeface="+mn-ea"/>
            </a:endParaRPr>
          </a:p>
          <a:p>
            <a:pPr marL="457200" indent="-4572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Learning Resources:</a:t>
            </a:r>
            <a:r>
              <a:rPr lang="en-US" altLang="en-US" sz="2400" dirty="0">
                <a:sym typeface="+mn-ea"/>
              </a:rPr>
              <a:t> Open-source e-books, skill materials, scholarships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Offline Support: </a:t>
            </a:r>
            <a:r>
              <a:rPr lang="en-US" altLang="en-US" sz="2400" dirty="0">
                <a:sym typeface="+mn-ea"/>
              </a:rPr>
              <a:t>Works in low-internet areas</a:t>
            </a:r>
            <a:endParaRPr lang="en-US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Oval 2" descr="Your startup LOGO"/>
          <p:cNvSpPr/>
          <p:nvPr/>
        </p:nvSpPr>
        <p:spPr>
          <a:xfrm>
            <a:off x="141605" y="107315"/>
            <a:ext cx="200406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IN" dirty="0"/>
              <a:t>Smart spark</a:t>
            </a:r>
            <a:endParaRPr lang="en-US" altLang="en-IN" dirty="0"/>
          </a:p>
        </p:txBody>
      </p:sp>
      <p:pic>
        <p:nvPicPr>
          <p:cNvPr id="2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74006" y="-13447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2606675" y="785495"/>
            <a:ext cx="7266940" cy="1146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4800" b="1" dirty="0">
                <a:sym typeface="+mn-ea"/>
              </a:rPr>
              <a:t>Implementation Strategy</a:t>
            </a:r>
            <a:endParaRPr lang="en-US" altLang="en-US" sz="4800" b="1" dirty="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710055" y="2477135"/>
            <a:ext cx="9274175" cy="3697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Stakeholder Collaboration:</a:t>
            </a:r>
            <a:r>
              <a:rPr lang="en-US" altLang="en-US" sz="2400" dirty="0">
                <a:sym typeface="+mn-ea"/>
              </a:rPr>
              <a:t> Govt. departments, teachers, NGOs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Technology Development:</a:t>
            </a:r>
            <a:r>
              <a:rPr lang="en-US" altLang="en-US" sz="2400" dirty="0">
                <a:sym typeface="+mn-ea"/>
              </a:rPr>
              <a:t> Scalable, lightweight app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Pilot Launch: </a:t>
            </a:r>
            <a:r>
              <a:rPr lang="en-US" altLang="en-US" sz="2400" dirty="0">
                <a:sym typeface="+mn-ea"/>
              </a:rPr>
              <a:t>Select districts with low enrollment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Full Rollout: </a:t>
            </a:r>
            <a:r>
              <a:rPr lang="en-US" altLang="en-US" sz="2400" dirty="0">
                <a:sym typeface="+mn-ea"/>
              </a:rPr>
              <a:t>State-wide / national expansion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Monitoring &amp; Feedback:</a:t>
            </a:r>
            <a:r>
              <a:rPr lang="en-US" altLang="en-US" sz="2400" dirty="0">
                <a:sym typeface="+mn-ea"/>
              </a:rPr>
              <a:t> Real-time analytics</a:t>
            </a:r>
            <a:endParaRPr lang="en-US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Oval 2" descr="Your startup LOGO"/>
          <p:cNvSpPr/>
          <p:nvPr/>
        </p:nvSpPr>
        <p:spPr>
          <a:xfrm>
            <a:off x="141605" y="107315"/>
            <a:ext cx="200406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IN" dirty="0"/>
              <a:t>Smart spark</a:t>
            </a:r>
            <a:endParaRPr lang="en-US" altLang="en-IN" dirty="0"/>
          </a:p>
        </p:txBody>
      </p:sp>
      <p:pic>
        <p:nvPicPr>
          <p:cNvPr id="2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74006" y="-13447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2606675" y="785495"/>
            <a:ext cx="7266940" cy="1146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4800" b="1" dirty="0">
                <a:sym typeface="+mn-ea"/>
              </a:rPr>
              <a:t>Expected Impact</a:t>
            </a:r>
            <a:endParaRPr lang="en-US" altLang="en-US" sz="4800" b="1" dirty="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02385" y="1931670"/>
            <a:ext cx="9681845" cy="424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+mn-ea"/>
              </a:rPr>
              <a:t>📈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b="1" dirty="0">
                <a:sym typeface="+mn-ea"/>
              </a:rPr>
              <a:t>Higher Enrollment</a:t>
            </a:r>
            <a:r>
              <a:rPr lang="en-US" altLang="en-US" sz="2000" dirty="0">
                <a:sym typeface="+mn-ea"/>
              </a:rPr>
              <a:t> – More students join government degree colleges</a:t>
            </a: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+mn-ea"/>
              </a:rPr>
              <a:t>🎯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b="1" dirty="0">
                <a:sym typeface="+mn-ea"/>
              </a:rPr>
              <a:t>Reduced Dropouts</a:t>
            </a:r>
            <a:r>
              <a:rPr lang="en-US" altLang="en-US" sz="2000" dirty="0">
                <a:sym typeface="+mn-ea"/>
              </a:rPr>
              <a:t> – Students continue after Class 10 &amp; 12 with confidence</a:t>
            </a: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+mn-ea"/>
              </a:rPr>
              <a:t>🧭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b="1" dirty="0">
                <a:sym typeface="+mn-ea"/>
              </a:rPr>
              <a:t>Informed Career Choices</a:t>
            </a:r>
            <a:r>
              <a:rPr lang="en-US" altLang="en-US" sz="2000" dirty="0">
                <a:sym typeface="+mn-ea"/>
              </a:rPr>
              <a:t> – Students pick streams &amp; courses based on aptitude, not guesswork</a:t>
            </a: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+mn-ea"/>
              </a:rPr>
              <a:t>🤝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b="1" dirty="0">
                <a:sym typeface="+mn-ea"/>
              </a:rPr>
              <a:t>Equity in Education</a:t>
            </a:r>
            <a:r>
              <a:rPr lang="en-US" altLang="en-US" sz="2000" dirty="0">
                <a:sym typeface="+mn-ea"/>
              </a:rPr>
              <a:t> – Rural &amp; underprivileged students get equal access to guidance</a:t>
            </a: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+mn-ea"/>
              </a:rPr>
              <a:t>🚀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b="1" dirty="0">
                <a:sym typeface="+mn-ea"/>
              </a:rPr>
              <a:t>Future-Ready Workforce</a:t>
            </a:r>
            <a:r>
              <a:rPr lang="en-US" altLang="en-US" sz="2000" dirty="0">
                <a:sym typeface="+mn-ea"/>
              </a:rPr>
              <a:t> – More graduates with the right skills for jobs, exams, or entrepreneurship</a:t>
            </a:r>
            <a:endParaRPr lang="en-US" altLang="en-US" sz="2000" dirty="0">
              <a:sym typeface="+mn-ea"/>
            </a:endParaRP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 sz="2000" dirty="0">
              <a:sym typeface="+mn-ea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 sz="2000" dirty="0">
              <a:sym typeface="+mn-ea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 sz="2000" dirty="0">
              <a:sym typeface="+mn-ea"/>
            </a:endParaRPr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sz="2000" dirty="0">
                <a:sym typeface="+mn-ea"/>
              </a:rPr>
              <a:t>  </a:t>
            </a:r>
            <a:r>
              <a:rPr lang="en-US" altLang="en-US" sz="2400" b="1" dirty="0">
                <a:sym typeface="+mn-ea"/>
              </a:rPr>
              <a:t> ✨ Empowered students → Stronger communities → Better nation</a:t>
            </a:r>
            <a:endParaRPr lang="en-US" altLang="en-US" sz="2400" b="1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Oval 2" descr="Your startup LOGO"/>
          <p:cNvSpPr/>
          <p:nvPr/>
        </p:nvSpPr>
        <p:spPr>
          <a:xfrm>
            <a:off x="141605" y="107315"/>
            <a:ext cx="2004060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IN" dirty="0"/>
              <a:t>Smart spark</a:t>
            </a:r>
            <a:endParaRPr lang="en-US" altLang="en-IN" dirty="0"/>
          </a:p>
        </p:txBody>
      </p:sp>
      <p:pic>
        <p:nvPicPr>
          <p:cNvPr id="2" name="Google Shape;93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874006" y="-13447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1405255" y="993775"/>
            <a:ext cx="8468360" cy="937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4800" b="1" dirty="0">
                <a:sym typeface="+mn-ea"/>
              </a:rPr>
              <a:t>Conclusion</a:t>
            </a:r>
            <a:endParaRPr lang="en-US" altLang="en-US" sz="4800" b="1" dirty="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02385" y="1931670"/>
            <a:ext cx="9681845" cy="424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The challenge is </a:t>
            </a:r>
            <a:r>
              <a:rPr lang="en-US" altLang="en-US" sz="2400" b="1" dirty="0">
                <a:sym typeface="+mn-ea"/>
              </a:rPr>
              <a:t>awareness</a:t>
            </a:r>
            <a:r>
              <a:rPr lang="en-US" altLang="en-US" sz="2400" dirty="0">
                <a:sym typeface="+mn-ea"/>
              </a:rPr>
              <a:t>, not infrastructure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Students and parents need </a:t>
            </a:r>
            <a:r>
              <a:rPr lang="en-US" altLang="en-US" sz="2400" b="1" dirty="0">
                <a:sym typeface="+mn-ea"/>
              </a:rPr>
              <a:t>guidance in academic &amp; career choices</a:t>
            </a:r>
            <a:endParaRPr lang="en-US" altLang="en-US" sz="2400" b="1" dirty="0">
              <a:sym typeface="+mn-ea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ym typeface="+mn-ea"/>
              </a:rPr>
              <a:t>A </a:t>
            </a:r>
            <a:r>
              <a:rPr lang="en-US" altLang="en-US" sz="2400" b="1" dirty="0">
                <a:sym typeface="+mn-ea"/>
              </a:rPr>
              <a:t>Digital Guidance Platform</a:t>
            </a:r>
            <a:r>
              <a:rPr lang="en-US" altLang="en-US" sz="2400" dirty="0">
                <a:sym typeface="+mn-ea"/>
              </a:rPr>
              <a:t> bridges this gap effectively</a:t>
            </a: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sym typeface="+mn-ea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ym typeface="+mn-ea"/>
              </a:rPr>
              <a:t>Ensures:</a:t>
            </a:r>
            <a:endParaRPr lang="en-US" altLang="en-US" sz="2400" b="1" dirty="0">
              <a:sym typeface="+mn-ea"/>
            </a:endParaRPr>
          </a:p>
          <a:p>
            <a:pPr indent="0">
              <a:lnSpc>
                <a:spcPct val="60000"/>
              </a:lnSpc>
              <a:buFont typeface="Arial" panose="020B0604020202020204" pitchFamily="34" charset="0"/>
              <a:buNone/>
            </a:pPr>
            <a:r>
              <a:rPr lang="en-US" altLang="en-US" sz="2400" b="1" dirty="0">
                <a:sym typeface="+mn-ea"/>
              </a:rPr>
              <a:t>      </a:t>
            </a:r>
            <a:endParaRPr lang="en-US" altLang="en-US" sz="2400" b="1" dirty="0">
              <a:sym typeface="+mn-ea"/>
            </a:endParaRPr>
          </a:p>
          <a:p>
            <a:pPr indent="0">
              <a:lnSpc>
                <a:spcPct val="60000"/>
              </a:lnSpc>
              <a:buNone/>
            </a:pPr>
            <a:r>
              <a:rPr lang="en-US" altLang="en-US" sz="2000" dirty="0">
                <a:sym typeface="+mn-ea"/>
              </a:rPr>
              <a:t>         - </a:t>
            </a:r>
            <a:r>
              <a:rPr lang="en-US" altLang="en-US" sz="2400" dirty="0">
                <a:sym typeface="+mn-ea"/>
              </a:rPr>
              <a:t>Informed decisions</a:t>
            </a:r>
            <a:endParaRPr lang="en-US" altLang="en-US" sz="2400" dirty="0">
              <a:sym typeface="+mn-ea"/>
            </a:endParaRPr>
          </a:p>
          <a:p>
            <a:pPr indent="0">
              <a:lnSpc>
                <a:spcPct val="60000"/>
              </a:lnSpc>
              <a:buNone/>
            </a:pPr>
            <a:endParaRPr lang="en-US" altLang="en-US" sz="2400" dirty="0">
              <a:sym typeface="+mn-ea"/>
            </a:endParaRPr>
          </a:p>
          <a:p>
            <a:pPr indent="0">
              <a:lnSpc>
                <a:spcPct val="60000"/>
              </a:lnSpc>
              <a:buNone/>
            </a:pPr>
            <a:r>
              <a:rPr lang="en-US" altLang="en-US" sz="2400" dirty="0">
                <a:sym typeface="+mn-ea"/>
              </a:rPr>
              <a:t>        -Higher government college enrollment</a:t>
            </a:r>
            <a:endParaRPr lang="en-US" altLang="en-US" sz="2400" dirty="0">
              <a:sym typeface="+mn-ea"/>
            </a:endParaRPr>
          </a:p>
          <a:p>
            <a:pPr indent="0">
              <a:lnSpc>
                <a:spcPct val="60000"/>
              </a:lnSpc>
              <a:buNone/>
            </a:pPr>
            <a:endParaRPr lang="en-US" altLang="en-US" sz="2400" dirty="0">
              <a:sym typeface="+mn-ea"/>
            </a:endParaRPr>
          </a:p>
          <a:p>
            <a:pPr indent="0">
              <a:lnSpc>
                <a:spcPct val="60000"/>
              </a:lnSpc>
              <a:buNone/>
            </a:pPr>
            <a:r>
              <a:rPr lang="en-US" altLang="en-US" sz="2400" dirty="0">
                <a:sym typeface="+mn-ea"/>
              </a:rPr>
              <a:t>        -Reduced dropouts</a:t>
            </a:r>
            <a:endParaRPr lang="en-US" altLang="en-US" sz="2400" dirty="0">
              <a:sym typeface="+mn-ea"/>
            </a:endParaRPr>
          </a:p>
          <a:p>
            <a:pPr indent="0">
              <a:lnSpc>
                <a:spcPct val="60000"/>
              </a:lnSpc>
              <a:buNone/>
            </a:pPr>
            <a:endParaRPr lang="en-US" altLang="en-US" sz="2400" dirty="0">
              <a:sym typeface="+mn-ea"/>
            </a:endParaRPr>
          </a:p>
          <a:p>
            <a:pPr indent="0">
              <a:lnSpc>
                <a:spcPct val="60000"/>
              </a:lnSpc>
              <a:buNone/>
            </a:pPr>
            <a:r>
              <a:rPr lang="en-US" altLang="en-US" sz="2400" dirty="0">
                <a:sym typeface="+mn-ea"/>
              </a:rPr>
              <a:t>        -Long-term career empowerment</a:t>
            </a:r>
            <a:endParaRPr lang="en-US" altLang="en-US" sz="24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3059</Words>
  <Application>WPS Presentation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Inter SemiBold</vt:lpstr>
      <vt:lpstr>Segoe Print</vt:lpstr>
      <vt:lpstr>Inter</vt:lpstr>
      <vt:lpstr>Times New Roman</vt:lpstr>
      <vt:lpstr>Garamond</vt:lpstr>
      <vt:lpstr>Noto Sans</vt:lpstr>
      <vt:lpstr>Yu Gothic UI</vt:lpstr>
      <vt:lpstr>Wingdings</vt:lpstr>
      <vt:lpstr>Calibri</vt:lpstr>
      <vt:lpstr>PMingLiU-ExtB</vt:lpstr>
      <vt:lpstr>Microsoft YaHei</vt:lpstr>
      <vt:lpstr>Arial Unicode MS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DHARANIKOTA</dc:creator>
  <cp:lastModifiedBy>WPS_1755073436</cp:lastModifiedBy>
  <cp:revision>5</cp:revision>
  <dcterms:created xsi:type="dcterms:W3CDTF">2024-08-29T06:02:00Z</dcterms:created>
  <dcterms:modified xsi:type="dcterms:W3CDTF">2025-09-19T16:45:52Z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F8272D41F9FD45A0862B35D4D2ABE4C7_13</vt:lpwstr>
  </property>
  <property fmtid="{D5CDD505-2E9C-101B-9397-08002B2CF9AE}" pid="3" name="KSOProductBuildVer">
    <vt:lpwstr>1033-12.2.0.22549</vt:lpwstr>
  </property>
</Properties>
</file>